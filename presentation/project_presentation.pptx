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574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33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84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66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58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721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51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76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210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74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3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9B4EF-7C70-48F3-BCA2-4E6477B7108A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54709-8717-4A41-9485-0350C1F4CA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78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ChemAI</a:t>
            </a:r>
            <a:r>
              <a:rPr lang="en-US" dirty="0">
                <a:latin typeface="+mn-lt"/>
              </a:rPr>
              <a:t>: Predict the Cure</a:t>
            </a:r>
            <a:endParaRPr lang="ru-RU" dirty="0">
              <a:latin typeface="+mn-lt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25583"/>
          </a:xfrm>
        </p:spPr>
        <p:txBody>
          <a:bodyPr/>
          <a:lstStyle/>
          <a:p>
            <a:r>
              <a:rPr lang="ru-RU" dirty="0"/>
              <a:t>Решение </a:t>
            </a:r>
            <a:r>
              <a:rPr lang="ru-RU" dirty="0" err="1"/>
              <a:t>хакатона</a:t>
            </a:r>
            <a:r>
              <a:rPr lang="ru-RU" dirty="0"/>
              <a:t> по предсказанию эффективности химических соединений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8734" y="5398001"/>
            <a:ext cx="2974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Байков Максим Кириллович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4872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69376" y="1071333"/>
            <a:ext cx="8216095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Цель: </a:t>
            </a:r>
            <a:r>
              <a:rPr lang="ru-RU" altLang="ru-RU" sz="2800" dirty="0" smtClean="0">
                <a:solidFill>
                  <a:srgbClr val="0F1115"/>
                </a:solidFill>
                <a:latin typeface="+mn-lt"/>
              </a:rPr>
              <a:t>П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  <a:t>редсказать 3 показателя для молекул: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+mn-lt"/>
              </a:rPr>
            </a:br>
            <a:r>
              <a:rPr lang="ru-RU" altLang="ru-RU" sz="3600" dirty="0">
                <a:solidFill>
                  <a:srgbClr val="0F1115"/>
                </a:solidFill>
                <a:latin typeface="+mn-lt"/>
              </a:rPr>
              <a:t/>
            </a:r>
            <a:br>
              <a:rPr lang="ru-RU" altLang="ru-RU" sz="3600" dirty="0">
                <a:solidFill>
                  <a:srgbClr val="0F1115"/>
                </a:solidFill>
                <a:latin typeface="+mn-lt"/>
              </a:rPr>
            </a:br>
            <a:r>
              <a:rPr lang="ru-RU" altLang="ru-RU" dirty="0">
                <a:solidFill>
                  <a:srgbClr val="0F1115"/>
                </a:solidFill>
                <a:latin typeface="+mn-lt"/>
              </a:rPr>
              <a:t> </a:t>
            </a:r>
            <a:r>
              <a:rPr lang="ru-RU" altLang="ru-RU" dirty="0" smtClean="0">
                <a:solidFill>
                  <a:srgbClr val="0F1115"/>
                </a:solidFill>
                <a:latin typeface="+mn-lt"/>
              </a:rPr>
              <a:t>-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IC50 — концентрация для подавления 50% вируса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lang="ru-RU" altLang="ru-RU" dirty="0">
                <a:solidFill>
                  <a:srgbClr val="0F1115"/>
                </a:solidFill>
                <a:latin typeface="+mn-lt"/>
              </a:rPr>
              <a:t> -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CC50 — концентрация для токсичности 50% клеток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-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SI — индекс селективности (SI = CC50 / IC50)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/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Важность: ускорение разработки лекарств</a:t>
            </a:r>
          </a:p>
        </p:txBody>
      </p:sp>
    </p:spTree>
    <p:extLst>
      <p:ext uri="{BB962C8B-B14F-4D97-AF65-F5344CB8AC3E}">
        <p14:creationId xmlns:p14="http://schemas.microsoft.com/office/powerpoint/2010/main" val="1476796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Анализ данных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Обучающая выборка: 751 молекула, 210 признаков</a:t>
            </a:r>
          </a:p>
          <a:p>
            <a:pPr marL="0" indent="0">
              <a:buNone/>
            </a:pPr>
            <a:r>
              <a:rPr lang="ru-RU" dirty="0" smtClean="0"/>
              <a:t>Тестовая выборка: 250 молекул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Проблема: большой разброс целевых переменных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- IC50: от 0.003 до 4095</a:t>
            </a:r>
          </a:p>
          <a:p>
            <a:pPr marL="0" indent="0">
              <a:buNone/>
            </a:pPr>
            <a:r>
              <a:rPr lang="ru-RU" dirty="0" smtClean="0"/>
              <a:t> - CC50: от 0.7 до 4539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dirty="0" smtClean="0"/>
              <a:t>- SI: от 0.01 до 15620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Пропуски: 12 колонок содержат 1-2 пропуска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6925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Предобработка </a:t>
            </a:r>
            <a:r>
              <a:rPr lang="ru-RU" dirty="0" smtClean="0">
                <a:latin typeface="+mn-lt"/>
              </a:rPr>
              <a:t>данных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1. Логарифмическое преобразование (log1p) - распределения стали нормальными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2. Заполнение пропусков (медианой)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3. Нормализация признаков (</a:t>
            </a:r>
            <a:r>
              <a:rPr lang="ru-RU" dirty="0" err="1" smtClean="0"/>
              <a:t>StandardScaler</a:t>
            </a:r>
            <a:r>
              <a:rPr lang="ru-RU" dirty="0" smtClean="0"/>
              <a:t>)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4. Разделение данных: 80% обучение, 20% </a:t>
            </a:r>
            <a:r>
              <a:rPr lang="ru-RU" dirty="0" err="1" smtClean="0"/>
              <a:t>валидация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797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Сравнение </a:t>
            </a:r>
            <a:r>
              <a:rPr lang="ru-RU" dirty="0" smtClean="0">
                <a:latin typeface="+mn-lt"/>
              </a:rPr>
              <a:t>моделей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6"/>
            <a:ext cx="10411326" cy="5445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Обучено 6 моделей и сравнены по </a:t>
            </a:r>
            <a:r>
              <a:rPr lang="en-US" dirty="0" smtClean="0"/>
              <a:t>RMSE </a:t>
            </a:r>
            <a:r>
              <a:rPr lang="ru-RU" dirty="0" smtClean="0"/>
              <a:t>на </a:t>
            </a:r>
            <a:r>
              <a:rPr lang="ru-RU" dirty="0" err="1" smtClean="0"/>
              <a:t>валидации</a:t>
            </a:r>
            <a:r>
              <a:rPr lang="ru-RU" dirty="0" smtClean="0"/>
              <a:t>: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666677"/>
              </p:ext>
            </p:extLst>
          </p:nvPr>
        </p:nvGraphicFramePr>
        <p:xfrm>
          <a:off x="838200" y="2370222"/>
          <a:ext cx="851033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6779">
                  <a:extLst>
                    <a:ext uri="{9D8B030D-6E8A-4147-A177-3AD203B41FA5}">
                      <a16:colId xmlns:a16="http://schemas.microsoft.com/office/drawing/2014/main" val="3402542289"/>
                    </a:ext>
                  </a:extLst>
                </a:gridCol>
                <a:gridCol w="2836779">
                  <a:extLst>
                    <a:ext uri="{9D8B030D-6E8A-4147-A177-3AD203B41FA5}">
                      <a16:colId xmlns:a16="http://schemas.microsoft.com/office/drawing/2014/main" val="147750170"/>
                    </a:ext>
                  </a:extLst>
                </a:gridCol>
                <a:gridCol w="2836779">
                  <a:extLst>
                    <a:ext uri="{9D8B030D-6E8A-4147-A177-3AD203B41FA5}">
                      <a16:colId xmlns:a16="http://schemas.microsoft.com/office/drawing/2014/main" val="1005405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Модель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IC50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CC50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864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LightGBM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416.32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473.39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083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XGBoost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434.97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495.18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631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RandomForest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427.96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496.71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331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GradientBoosting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419.22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513.10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640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KNN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416.84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529.40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776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SVR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446.26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500.02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8528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5187532"/>
            <a:ext cx="5788572" cy="95410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 smtClean="0"/>
              <a:t>   </a:t>
            </a:r>
            <a:r>
              <a:rPr lang="ru-RU" sz="2800" dirty="0" smtClean="0"/>
              <a:t> Лучшая модел</a:t>
            </a:r>
            <a:r>
              <a:rPr lang="ru-RU" sz="2800" dirty="0"/>
              <a:t>ь</a:t>
            </a:r>
            <a:r>
              <a:rPr lang="ru-RU" sz="2800" dirty="0" smtClean="0"/>
              <a:t> по </a:t>
            </a:r>
            <a:r>
              <a:rPr lang="en-US" sz="2800" dirty="0" smtClean="0"/>
              <a:t>CC50: </a:t>
            </a:r>
            <a:r>
              <a:rPr lang="en-US" sz="2800" dirty="0" err="1" smtClean="0"/>
              <a:t>LightGBM</a:t>
            </a:r>
            <a:endParaRPr lang="en-US" sz="2800" dirty="0" smtClean="0"/>
          </a:p>
          <a:p>
            <a:r>
              <a:rPr lang="ru-RU" sz="2800" dirty="0" smtClean="0"/>
              <a:t>    Лучшая модель по </a:t>
            </a:r>
            <a:r>
              <a:rPr lang="en-US" sz="2800" dirty="0" smtClean="0"/>
              <a:t>IC50: </a:t>
            </a:r>
            <a:r>
              <a:rPr lang="en-US" sz="2800" dirty="0" err="1" smtClean="0"/>
              <a:t>LightGBM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76493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+mn-lt"/>
              </a:rPr>
              <a:t>Ансамбли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Вывел усреднение предсказаний нескольких моделей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Результаты: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RF + GB + KNN: IC50 416.25, CC50 491.96</a:t>
            </a:r>
          </a:p>
          <a:p>
            <a:pPr marL="0" indent="0">
              <a:buNone/>
            </a:pPr>
            <a:r>
              <a:rPr lang="ru-RU" dirty="0" smtClean="0"/>
              <a:t>RF + GB + KNN + </a:t>
            </a:r>
            <a:r>
              <a:rPr lang="ru-RU" dirty="0" err="1" smtClean="0"/>
              <a:t>LightGBM</a:t>
            </a:r>
            <a:r>
              <a:rPr lang="ru-RU" dirty="0" smtClean="0"/>
              <a:t>: IC50 415.36, CC50 483.43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sz="4400" dirty="0" smtClean="0"/>
              <a:t>Вывод: </a:t>
            </a:r>
            <a:r>
              <a:rPr lang="ru-RU" dirty="0" smtClean="0"/>
              <a:t>ансамбль улучшил IC50, но </a:t>
            </a:r>
            <a:r>
              <a:rPr lang="ru-RU" dirty="0" err="1" smtClean="0"/>
              <a:t>LightGBM</a:t>
            </a:r>
            <a:r>
              <a:rPr lang="ru-RU" dirty="0" smtClean="0"/>
              <a:t> отдельно дал лучший CC50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810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4601"/>
          </a:xfrm>
        </p:spPr>
        <p:txBody>
          <a:bodyPr/>
          <a:lstStyle/>
          <a:p>
            <a:r>
              <a:rPr lang="ru-RU" b="1" dirty="0"/>
              <a:t>Итоговые </a:t>
            </a:r>
            <a:r>
              <a:rPr lang="ru-RU" b="1" dirty="0" smtClean="0"/>
              <a:t>результаты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19726"/>
            <a:ext cx="8353926" cy="49690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smtClean="0"/>
              <a:t>Лучшая модель: </a:t>
            </a:r>
            <a:r>
              <a:rPr lang="en-US" dirty="0" err="1" smtClean="0"/>
              <a:t>LightGBM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Результаты:</a:t>
            </a:r>
          </a:p>
          <a:p>
            <a:pPr marL="0" indent="0">
              <a:buNone/>
            </a:pPr>
            <a:r>
              <a:rPr lang="ru-RU" dirty="0" smtClean="0"/>
              <a:t> - </a:t>
            </a:r>
            <a:r>
              <a:rPr lang="en-US" dirty="0" smtClean="0"/>
              <a:t>IC50 RMSE: 416.32</a:t>
            </a:r>
          </a:p>
          <a:p>
            <a:pPr marL="0" indent="0">
              <a:buNone/>
            </a:pPr>
            <a:r>
              <a:rPr lang="ru-RU" dirty="0" smtClean="0"/>
              <a:t> - </a:t>
            </a:r>
            <a:r>
              <a:rPr lang="en-US" dirty="0" smtClean="0"/>
              <a:t>CC50 RMSE: 473.39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Созданы файлы предсказаний для тестовой выборки:</a:t>
            </a:r>
          </a:p>
          <a:p>
            <a:pPr marL="0" indent="0">
              <a:buNone/>
            </a:pPr>
            <a:r>
              <a:rPr lang="ru-RU" dirty="0" smtClean="0"/>
              <a:t> - </a:t>
            </a:r>
            <a:r>
              <a:rPr lang="en-US" dirty="0" smtClean="0"/>
              <a:t>submission_lightgbm.csv</a:t>
            </a:r>
          </a:p>
          <a:p>
            <a:pPr marL="0" indent="0">
              <a:buNone/>
            </a:pPr>
            <a:r>
              <a:rPr lang="ru-RU" dirty="0" smtClean="0"/>
              <a:t> - </a:t>
            </a:r>
            <a:r>
              <a:rPr lang="en-US" dirty="0" smtClean="0"/>
              <a:t>submission_xgboost.csv</a:t>
            </a:r>
          </a:p>
          <a:p>
            <a:pPr marL="0" indent="0">
              <a:buNone/>
            </a:pPr>
            <a:r>
              <a:rPr lang="ru-RU" dirty="0" smtClean="0"/>
              <a:t> - </a:t>
            </a:r>
            <a:r>
              <a:rPr lang="en-US" dirty="0" smtClean="0"/>
              <a:t>lightgbm_ensemble.csv</a:t>
            </a:r>
          </a:p>
          <a:p>
            <a:pPr marL="0" indent="0">
              <a:buNone/>
            </a:pPr>
            <a:r>
              <a:rPr lang="ru-RU" dirty="0" smtClean="0"/>
              <a:t> - </a:t>
            </a:r>
            <a:r>
              <a:rPr lang="en-US" dirty="0" smtClean="0"/>
              <a:t>submission_ensemble.csv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6334997" y="5311549"/>
            <a:ext cx="5735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 smtClean="0"/>
              <a:t>Так вышло что я делал работу самостоятельно. Ни команда, ни </a:t>
            </a:r>
          </a:p>
          <a:p>
            <a:r>
              <a:rPr lang="ru-RU" sz="1600" dirty="0" err="1" smtClean="0"/>
              <a:t>тимлид</a:t>
            </a:r>
            <a:r>
              <a:rPr lang="ru-RU" sz="1600" dirty="0" smtClean="0"/>
              <a:t> на связь нормально не выходят. У меня из главных </a:t>
            </a:r>
          </a:p>
          <a:p>
            <a:r>
              <a:rPr lang="ru-RU" sz="1600" dirty="0" smtClean="0"/>
              <a:t>возникших проблем это отсутствие доступа к </a:t>
            </a:r>
            <a:r>
              <a:rPr lang="en-US" sz="1600" dirty="0" err="1" smtClean="0"/>
              <a:t>Kaggle</a:t>
            </a:r>
            <a:r>
              <a:rPr lang="ru-RU" sz="1600" dirty="0" smtClean="0"/>
              <a:t>,</a:t>
            </a:r>
            <a:r>
              <a:rPr lang="en-US" sz="1600" dirty="0" smtClean="0"/>
              <a:t> </a:t>
            </a:r>
            <a:r>
              <a:rPr lang="ru-RU" sz="1600" dirty="0" smtClean="0"/>
              <a:t>в Крыму. </a:t>
            </a:r>
          </a:p>
          <a:p>
            <a:r>
              <a:rPr lang="ru-RU" sz="1600" dirty="0" smtClean="0"/>
              <a:t>Из-за чего я не могу, ни залить код на сайт, ни узнать результат.</a:t>
            </a:r>
          </a:p>
          <a:p>
            <a:r>
              <a:rPr lang="ru-RU" sz="1600" dirty="0" smtClean="0"/>
              <a:t>Прошу принять во внимание.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8997875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299</Words>
  <Application>Microsoft Office PowerPoint</Application>
  <PresentationFormat>Широкоэкранный</PresentationFormat>
  <Paragraphs>72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ChemAI: Predict the Cure</vt:lpstr>
      <vt:lpstr>Цель: Предсказать 3 показателя для молекул:   - IC50 — концентрация для подавления 50% вируса  - CC50 — концентрация для токсичности 50% клеток  - SI — индекс селективности (SI = CC50 / IC50)  Важность: ускорение разработки лекарств</vt:lpstr>
      <vt:lpstr>Анализ данных</vt:lpstr>
      <vt:lpstr>Предобработка данных</vt:lpstr>
      <vt:lpstr>Сравнение моделей</vt:lpstr>
      <vt:lpstr>Ансамбли</vt:lpstr>
      <vt:lpstr>Итоговые 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ChemAI: Predict the Cure</dc:title>
  <dc:creator>Макс</dc:creator>
  <cp:lastModifiedBy>Макс</cp:lastModifiedBy>
  <cp:revision>6</cp:revision>
  <dcterms:created xsi:type="dcterms:W3CDTF">2026-05-30T14:28:17Z</dcterms:created>
  <dcterms:modified xsi:type="dcterms:W3CDTF">2026-05-30T15:24:07Z</dcterms:modified>
</cp:coreProperties>
</file>